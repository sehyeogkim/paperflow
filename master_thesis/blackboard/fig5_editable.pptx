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3657600" cy="640080"/>
          </a:xfrm>
          <a:prstGeom prst="roundRect">
            <a:avLst>
              <a:gd name="adj" fmla="val 18000"/>
            </a:avLst>
          </a:prstGeom>
          <a:solidFill>
            <a:srgbClr val="ECE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8912" y="347472"/>
            <a:ext cx="402336" cy="402336"/>
          </a:xfrm>
          <a:prstGeom prst="ellipse">
            <a:avLst/>
          </a:prstGeom>
          <a:solidFill>
            <a:srgbClr val="21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402336" cy="43891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28600"/>
            <a:ext cx="2926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Dataset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1104" y="228600"/>
            <a:ext cx="3657600" cy="640080"/>
          </a:xfrm>
          <a:prstGeom prst="roundRect">
            <a:avLst>
              <a:gd name="adj" fmla="val 18000"/>
            </a:avLst>
          </a:prstGeom>
          <a:solidFill>
            <a:srgbClr val="ECE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425696" y="347472"/>
            <a:ext cx="402336" cy="402336"/>
          </a:xfrm>
          <a:prstGeom prst="ellipse">
            <a:avLst/>
          </a:prstGeom>
          <a:solidFill>
            <a:srgbClr val="21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5696" y="320040"/>
            <a:ext cx="402336" cy="43891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9472" y="228600"/>
            <a:ext cx="2926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Vulnerability Index Selection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228600"/>
            <a:ext cx="3657600" cy="640080"/>
          </a:xfrm>
          <a:prstGeom prst="roundRect">
            <a:avLst>
              <a:gd name="adj" fmla="val 18000"/>
            </a:avLst>
          </a:prstGeom>
          <a:solidFill>
            <a:srgbClr val="ECE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0" y="347472"/>
            <a:ext cx="402336" cy="402336"/>
          </a:xfrm>
          <a:prstGeom prst="ellipse">
            <a:avLst/>
          </a:prstGeom>
          <a:solidFill>
            <a:srgbClr val="21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20040"/>
            <a:ext cx="402336" cy="43891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6256" y="228600"/>
            <a:ext cx="2926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Surrogate Model &amp;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Sensitivity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024128"/>
            <a:ext cx="3657600" cy="2542032"/>
          </a:xfrm>
          <a:prstGeom prst="roundRect">
            <a:avLst>
              <a:gd name="adj" fmla="val 6000"/>
            </a:avLst>
          </a:prstGeom>
          <a:solidFill>
            <a:srgbClr val="DDE8F5"/>
          </a:solidFill>
          <a:ln w="20320">
            <a:solidFill>
              <a:srgbClr val="21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078992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1406E"/>
                </a:solidFill>
                <a:latin typeface="Arial"/>
              </a:rPr>
              <a:t>Input 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1408176"/>
            <a:ext cx="1078992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Hemodynamic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Pressure/Flow</a:t>
            </a:r>
          </a:p>
        </p:txBody>
      </p:sp>
      <p:pic>
        <p:nvPicPr>
          <p:cNvPr id="17" name="Picture 16" descr="h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92808"/>
            <a:ext cx="1078992" cy="14813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72768" y="1408176"/>
            <a:ext cx="1078992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Plaque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Morphology</a:t>
            </a:r>
          </a:p>
        </p:txBody>
      </p:sp>
      <p:pic>
        <p:nvPicPr>
          <p:cNvPr id="19" name="Picture 18" descr="mor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1892808"/>
            <a:ext cx="1078992" cy="14813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1488" y="1408176"/>
            <a:ext cx="1078992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Material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Stress-Strain</a:t>
            </a:r>
          </a:p>
        </p:txBody>
      </p:sp>
      <p:pic>
        <p:nvPicPr>
          <p:cNvPr id="21" name="Picture 20" descr="st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1892808"/>
            <a:ext cx="1078992" cy="1481328"/>
          </a:xfrm>
          <a:prstGeom prst="rect">
            <a:avLst/>
          </a:prstGeom>
        </p:spPr>
      </p:pic>
      <p:sp>
        <p:nvSpPr>
          <p:cNvPr id="22" name="Down Arrow 21"/>
          <p:cNvSpPr/>
          <p:nvPr/>
        </p:nvSpPr>
        <p:spPr>
          <a:xfrm>
            <a:off x="1901951" y="3584448"/>
            <a:ext cx="402336" cy="457200"/>
          </a:xfrm>
          <a:prstGeom prst="downArrow">
            <a:avLst/>
          </a:prstGeom>
          <a:solidFill>
            <a:srgbClr val="21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4320" y="4069080"/>
            <a:ext cx="3657600" cy="2542032"/>
          </a:xfrm>
          <a:prstGeom prst="roundRect">
            <a:avLst>
              <a:gd name="adj" fmla="val 6000"/>
            </a:avLst>
          </a:prstGeom>
          <a:solidFill>
            <a:srgbClr val="DDE8F5"/>
          </a:solidFill>
          <a:ln w="20320">
            <a:solidFill>
              <a:srgbClr val="21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4160520"/>
            <a:ext cx="33832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1406E"/>
                </a:solidFill>
                <a:latin typeface="Arial"/>
              </a:rPr>
              <a:t>Cost-effective FSI simulation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507992"/>
            <a:ext cx="33832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→ 1,000-sample dataset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4937760"/>
            <a:ext cx="1554480" cy="1463040"/>
          </a:xfrm>
          <a:prstGeom prst="roundRect">
            <a:avLst>
              <a:gd name="adj" fmla="val 8000"/>
            </a:avLst>
          </a:prstGeom>
          <a:solidFill>
            <a:srgbClr val="F2F0EA"/>
          </a:solidFill>
          <a:ln w="12700">
            <a:solidFill>
              <a:srgbClr val="C8B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4937760"/>
            <a:ext cx="1554480" cy="14630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9A9080"/>
                </a:solidFill>
                <a:latin typeface="Arial"/>
              </a:rPr>
              <a:t>[ FSI result
image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983480"/>
            <a:ext cx="1737360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Outputs: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222222"/>
                </a:solidFill>
                <a:latin typeface="Arial"/>
              </a:rPr>
              <a:t>• PSS (peak systolic stress)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222222"/>
                </a:solidFill>
                <a:latin typeface="Arial"/>
              </a:rPr>
              <a:t>• </a:t>
            </a:r>
            <a:r>
              <a:rPr sz="930" b="0">
                <a:solidFill>
                  <a:srgbClr val="222222"/>
                </a:solidFill>
                <a:latin typeface="Arial"/>
              </a:rPr>
              <a:t>ΔPSS (change in PSS)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1104" y="1024128"/>
            <a:ext cx="3657600" cy="2542032"/>
          </a:xfrm>
          <a:prstGeom prst="roundRect">
            <a:avLst>
              <a:gd name="adj" fmla="val 6000"/>
            </a:avLst>
          </a:prstGeom>
          <a:solidFill>
            <a:srgbClr val="E7F0E7"/>
          </a:solidFill>
          <a:ln w="2032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61104" y="1115568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E5E3A"/>
                </a:solidFill>
                <a:latin typeface="Arial"/>
              </a:rPr>
              <a:t>6 VI candidates</a:t>
            </a:r>
          </a:p>
        </p:txBody>
      </p:sp>
      <p:sp>
        <p:nvSpPr>
          <p:cNvPr id="31" name="Oval 30"/>
          <p:cNvSpPr/>
          <p:nvPr/>
        </p:nvSpPr>
        <p:spPr>
          <a:xfrm>
            <a:off x="4672584" y="1664208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2584" y="1645920"/>
            <a:ext cx="36576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5E3A"/>
                </a:solidFill>
                <a:latin typeface="Arial"/>
              </a:rPr>
              <a:t>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4" y="1645920"/>
            <a:ext cx="265176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VI = stress / strength</a:t>
            </a:r>
          </a:p>
        </p:txBody>
      </p:sp>
      <p:sp>
        <p:nvSpPr>
          <p:cNvPr id="34" name="Oval 33"/>
          <p:cNvSpPr/>
          <p:nvPr/>
        </p:nvSpPr>
        <p:spPr>
          <a:xfrm>
            <a:off x="4672584" y="2231136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72584" y="2212848"/>
            <a:ext cx="36576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5E3A"/>
                </a:solidFill>
                <a:latin typeface="Arial"/>
              </a:rPr>
              <a:t>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75504" y="2212848"/>
            <a:ext cx="265176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stress = {PSS, ΔPSS}</a:t>
            </a:r>
          </a:p>
        </p:txBody>
      </p:sp>
      <p:sp>
        <p:nvSpPr>
          <p:cNvPr id="37" name="Oval 36"/>
          <p:cNvSpPr/>
          <p:nvPr/>
        </p:nvSpPr>
        <p:spPr>
          <a:xfrm>
            <a:off x="4672584" y="2798064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72584" y="2779776"/>
            <a:ext cx="36576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5E3A"/>
                </a:solidFill>
                <a:latin typeface="Arial"/>
              </a:rPr>
              <a:t>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75504" y="2779776"/>
            <a:ext cx="265176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α = {0.0, 0.5, 1.0}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5888736" y="3584448"/>
            <a:ext cx="402336" cy="457200"/>
          </a:xfrm>
          <a:prstGeom prst="downArrow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261104" y="4069080"/>
            <a:ext cx="3657600" cy="2542032"/>
          </a:xfrm>
          <a:prstGeom prst="roundRect">
            <a:avLst>
              <a:gd name="adj" fmla="val 6000"/>
            </a:avLst>
          </a:prstGeom>
          <a:solidFill>
            <a:srgbClr val="E7F0E7"/>
          </a:solidFill>
          <a:ln w="2032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98264" y="4160520"/>
            <a:ext cx="33832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5E3A"/>
                </a:solidFill>
                <a:latin typeface="Arial"/>
              </a:rPr>
              <a:t>7-criterion clinical screening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25696" y="45262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2F0EA"/>
          </a:solidFill>
          <a:ln w="12700">
            <a:solidFill>
              <a:srgbClr val="C8B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25696" y="4526280"/>
            <a:ext cx="4572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9A9080"/>
                </a:solidFill>
                <a:latin typeface="Arial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92624" y="4544568"/>
            <a:ext cx="283464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• Sign-agreement test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43984" y="5093208"/>
            <a:ext cx="3291840" cy="12700"/>
          </a:xfrm>
          <a:prstGeom prst="round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43984" y="5166360"/>
            <a:ext cx="32918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Arial"/>
              </a:rPr>
              <a:t>Select two final indices: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43984" y="5532120"/>
            <a:ext cx="566928" cy="384048"/>
          </a:xfrm>
          <a:prstGeom prst="roundRect">
            <a:avLst>
              <a:gd name="adj" fmla="val 25000"/>
            </a:avLst>
          </a:prstGeom>
          <a:solidFill>
            <a:srgbClr val="E7F0E7"/>
          </a:solidFill>
          <a:ln w="1524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43984" y="5532120"/>
            <a:ext cx="566928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E5E3A"/>
                </a:solidFill>
                <a:latin typeface="Arial"/>
              </a:rPr>
              <a:t>VI</a:t>
            </a:r>
            <a:r>
              <a:rPr sz="800" b="1" baseline="-25000">
                <a:solidFill>
                  <a:srgbClr val="2E5E3A"/>
                </a:solidFill>
                <a:latin typeface="Arial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9784" y="5532120"/>
            <a:ext cx="269748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VI</a:t>
            </a:r>
            <a:r>
              <a:rPr sz="750" b="0" baseline="-25000">
                <a:solidFill>
                  <a:srgbClr val="222222"/>
                </a:solidFill>
                <a:latin typeface="Arial"/>
              </a:rPr>
              <a:t>1</a:t>
            </a:r>
            <a:r>
              <a:rPr sz="1050" b="0">
                <a:solidFill>
                  <a:srgbClr val="222222"/>
                </a:solidFill>
                <a:latin typeface="Arial"/>
              </a:rPr>
              <a:t> = ΔPSS / E</a:t>
            </a:r>
            <a:r>
              <a:rPr sz="750" b="0" baseline="-25000">
                <a:solidFill>
                  <a:srgbClr val="222222"/>
                </a:solidFill>
                <a:latin typeface="Arial"/>
              </a:rPr>
              <a:t>FC</a:t>
            </a:r>
            <a:r>
              <a:rPr sz="850" b="0" baseline="3000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43984" y="6007608"/>
            <a:ext cx="566928" cy="384048"/>
          </a:xfrm>
          <a:prstGeom prst="roundRect">
            <a:avLst>
              <a:gd name="adj" fmla="val 25000"/>
            </a:avLst>
          </a:prstGeom>
          <a:solidFill>
            <a:srgbClr val="E7F0E7"/>
          </a:solidFill>
          <a:ln w="1524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43984" y="6007608"/>
            <a:ext cx="566928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E5E3A"/>
                </a:solidFill>
                <a:latin typeface="Arial"/>
              </a:rPr>
              <a:t>VI</a:t>
            </a:r>
            <a:r>
              <a:rPr sz="800" b="1" baseline="-25000">
                <a:solidFill>
                  <a:srgbClr val="2E5E3A"/>
                </a:solidFill>
                <a:latin typeface="Arial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9784" y="6007608"/>
            <a:ext cx="269748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VI</a:t>
            </a:r>
            <a:r>
              <a:rPr sz="750" b="0" baseline="-25000">
                <a:solidFill>
                  <a:srgbClr val="222222"/>
                </a:solidFill>
                <a:latin typeface="Arial"/>
              </a:rPr>
              <a:t>2</a:t>
            </a:r>
            <a:r>
              <a:rPr sz="1050" b="0">
                <a:solidFill>
                  <a:srgbClr val="222222"/>
                </a:solidFill>
                <a:latin typeface="Arial"/>
              </a:rPr>
              <a:t> = ΔPSS / E</a:t>
            </a:r>
            <a:r>
              <a:rPr sz="750" b="0" baseline="-25000">
                <a:solidFill>
                  <a:srgbClr val="222222"/>
                </a:solidFill>
                <a:latin typeface="Arial"/>
              </a:rPr>
              <a:t>FC</a:t>
            </a:r>
            <a:r>
              <a:rPr sz="850" b="0" baseline="3000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47888" y="1024128"/>
            <a:ext cx="3657600" cy="2542032"/>
          </a:xfrm>
          <a:prstGeom prst="roundRect">
            <a:avLst>
              <a:gd name="adj" fmla="val 6000"/>
            </a:avLst>
          </a:prstGeom>
          <a:solidFill>
            <a:srgbClr val="EFEAF7"/>
          </a:solidFill>
          <a:ln w="20320">
            <a:solidFill>
              <a:srgbClr val="4B2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47888" y="1097280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B2E83"/>
                </a:solidFill>
                <a:latin typeface="Arial"/>
              </a:rPr>
              <a:t>GPR surrogate 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7888" y="1389888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Map input parameters → VI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57615" y="1801368"/>
            <a:ext cx="1463040" cy="1554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21406E"/>
                </a:solidFill>
                <a:latin typeface="Arial"/>
              </a:rPr>
              <a:t>● </a:t>
            </a:r>
            <a:r>
              <a:rPr sz="880" b="0">
                <a:solidFill>
                  <a:srgbClr val="222222"/>
                </a:solidFill>
                <a:latin typeface="Arial"/>
              </a:rPr>
              <a:t>Hemodynamic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0392B"/>
                </a:solidFill>
                <a:latin typeface="Arial"/>
              </a:rPr>
              <a:t>● </a:t>
            </a:r>
            <a:r>
              <a:rPr sz="880" b="0">
                <a:solidFill>
                  <a:srgbClr val="222222"/>
                </a:solidFill>
                <a:latin typeface="Arial"/>
              </a:rPr>
              <a:t>Morphological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2E5E3A"/>
                </a:solidFill>
                <a:latin typeface="Arial"/>
              </a:rPr>
              <a:t>● </a:t>
            </a:r>
            <a:r>
              <a:rPr sz="880" b="0">
                <a:solidFill>
                  <a:srgbClr val="222222"/>
                </a:solidFill>
                <a:latin typeface="Arial"/>
              </a:rPr>
              <a:t>Material</a:t>
            </a:r>
          </a:p>
        </p:txBody>
      </p:sp>
      <p:pic>
        <p:nvPicPr>
          <p:cNvPr id="58" name="Picture 57" descr="gp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8088" y="1755648"/>
            <a:ext cx="1920240" cy="1463040"/>
          </a:xfrm>
          <a:prstGeom prst="rect">
            <a:avLst/>
          </a:prstGeom>
        </p:spPr>
      </p:pic>
      <p:sp>
        <p:nvSpPr>
          <p:cNvPr id="59" name="Down Arrow 58"/>
          <p:cNvSpPr/>
          <p:nvPr/>
        </p:nvSpPr>
        <p:spPr>
          <a:xfrm>
            <a:off x="9875519" y="3584448"/>
            <a:ext cx="402336" cy="457200"/>
          </a:xfrm>
          <a:prstGeom prst="downArrow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247888" y="4069080"/>
            <a:ext cx="3657600" cy="2542032"/>
          </a:xfrm>
          <a:prstGeom prst="roundRect">
            <a:avLst>
              <a:gd name="adj" fmla="val 6000"/>
            </a:avLst>
          </a:prstGeom>
          <a:solidFill>
            <a:srgbClr val="EFEAF7"/>
          </a:solidFill>
          <a:ln w="20320">
            <a:solidFill>
              <a:srgbClr val="4B2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85048" y="4160520"/>
            <a:ext cx="33832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B2E83"/>
                </a:solidFill>
                <a:latin typeface="Arial"/>
              </a:rPr>
              <a:t>Sobol sensitivity analysis</a:t>
            </a:r>
          </a:p>
        </p:txBody>
      </p:sp>
      <p:pic>
        <p:nvPicPr>
          <p:cNvPr id="62" name="Picture 61" descr="sob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7" y="4526280"/>
            <a:ext cx="2377440" cy="1417320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8476488" y="6080760"/>
            <a:ext cx="3200400" cy="411480"/>
          </a:xfrm>
          <a:prstGeom prst="roundRect">
            <a:avLst>
              <a:gd name="adj" fmla="val 30000"/>
            </a:avLst>
          </a:prstGeom>
          <a:solidFill>
            <a:srgbClr val="E3DCF0"/>
          </a:solidFill>
          <a:ln w="12700">
            <a:solidFill>
              <a:srgbClr val="4B2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76488" y="6080760"/>
            <a:ext cx="3200400" cy="4114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B2E83"/>
                </a:solidFill>
                <a:latin typeface="Arial"/>
              </a:rPr>
              <a:t>★  </a:t>
            </a:r>
            <a:r>
              <a:rPr sz="950" b="1">
                <a:solidFill>
                  <a:srgbClr val="4B2E83"/>
                </a:solidFill>
                <a:latin typeface="Arial"/>
              </a:rPr>
              <a:t>Material &gt; Hemodynamic &gt; Morphological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3950207" y="4983480"/>
            <a:ext cx="274320" cy="457200"/>
          </a:xfrm>
          <a:prstGeom prst="rightArrow">
            <a:avLst/>
          </a:prstGeom>
          <a:solidFill>
            <a:srgbClr val="21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ight Arrow 65"/>
          <p:cNvSpPr/>
          <p:nvPr/>
        </p:nvSpPr>
        <p:spPr>
          <a:xfrm>
            <a:off x="7936992" y="4983480"/>
            <a:ext cx="274320" cy="457200"/>
          </a:xfrm>
          <a:prstGeom prst="rightArrow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